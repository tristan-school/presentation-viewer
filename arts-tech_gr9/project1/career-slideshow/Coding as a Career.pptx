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JetBrains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185195"/>
            <a:ext cx="1524000" cy="647700"/>
          </a:xfrm>
          <a:prstGeom prst="roundRect">
            <a:avLst>
              <a:gd fmla="val 1176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286000" y="4185195"/>
            <a:ext cx="1924050" cy="647700"/>
          </a:xfrm>
          <a:prstGeom prst="roundRect">
            <a:avLst>
              <a:gd fmla="val 1176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2225" y="1533525"/>
            <a:ext cx="52101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53340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43050"/>
            <a:ext cx="51911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1049000" y="552450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05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90600" y="542925"/>
            <a:ext cx="17859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CAREER PLAYBOOK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2234505"/>
            <a:ext cx="6488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SOFTWARE ENGINEERING IN 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2548830"/>
            <a:ext cx="6813351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Coding as a Career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330889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Navigating specializations, critical engineering skills, education routes, and the AI era.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09625" y="4309020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Market Demand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9625" y="4509045"/>
            <a:ext cx="1409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+15% Growth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486025" y="4309020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Core Asset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486025" y="4509045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System Judgment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09600" y="2626221"/>
            <a:ext cx="2600325" cy="2586632"/>
          </a:xfrm>
          <a:prstGeom prst="roundRect">
            <a:avLst>
              <a:gd fmla="val 44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400425" y="2626221"/>
            <a:ext cx="2600325" cy="2586632"/>
          </a:xfrm>
          <a:prstGeom prst="roundRect">
            <a:avLst>
              <a:gd fmla="val 44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191250" y="2626221"/>
            <a:ext cx="2600325" cy="2586632"/>
          </a:xfrm>
          <a:prstGeom prst="roundRect">
            <a:avLst>
              <a:gd fmla="val 44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982075" y="2626221"/>
            <a:ext cx="2600325" cy="2586632"/>
          </a:xfrm>
          <a:prstGeom prst="roundRect">
            <a:avLst>
              <a:gd fmla="val 44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85825" y="4688978"/>
            <a:ext cx="1524000" cy="247650"/>
          </a:xfrm>
          <a:prstGeom prst="roundRect">
            <a:avLst>
              <a:gd fmla="val 1538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676650" y="4688978"/>
            <a:ext cx="1524000" cy="247650"/>
          </a:xfrm>
          <a:prstGeom prst="roundRect">
            <a:avLst>
              <a:gd fmla="val 1538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467475" y="4688978"/>
            <a:ext cx="1524000" cy="247650"/>
          </a:xfrm>
          <a:prstGeom prst="roundRect">
            <a:avLst>
              <a:gd fmla="val 1538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9258300" y="4688978"/>
            <a:ext cx="1143000" cy="247650"/>
          </a:xfrm>
          <a:prstGeom prst="roundRect">
            <a:avLst>
              <a:gd fmla="val 1538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90244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650" y="290244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7475" y="290244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300" y="290244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837" y="3016746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0950" y="301674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7487" y="3016746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72600" y="301674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09600" y="8191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Specializations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Primary focus areas across modern development teams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09600" y="53340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DOMAINS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1049000" y="533400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05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85825" y="3512046"/>
            <a:ext cx="26878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Front-End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85825" y="3816846"/>
            <a:ext cx="21431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 interfaces and interactive user experiences.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62025" y="4727078"/>
            <a:ext cx="1466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 • TypeScript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3676650" y="3512046"/>
            <a:ext cx="26878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Back-End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676650" y="3816846"/>
            <a:ext cx="21431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Server logic, database orchestration, and robust APIs.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3752850" y="4727078"/>
            <a:ext cx="1466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• Java • Go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467475" y="3512046"/>
            <a:ext cx="26878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Full-Stack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467475" y="3816846"/>
            <a:ext cx="21431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End-to-end product implementation across all layers.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543675" y="4727078"/>
            <a:ext cx="1466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Node.js • Full Web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9258300" y="3512046"/>
            <a:ext cx="26878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&amp; AI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9258300" y="3816846"/>
            <a:ext cx="21431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Scalable data pipelines and machine learning pipelines.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334500" y="4727078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PyTorch • SQL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609600" y="2909887"/>
            <a:ext cx="2571750" cy="2019300"/>
          </a:xfrm>
          <a:prstGeom prst="roundRect">
            <a:avLst>
              <a:gd fmla="val 56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409950" y="2795587"/>
            <a:ext cx="2571750" cy="2247900"/>
          </a:xfrm>
          <a:prstGeom prst="roundRect">
            <a:avLst>
              <a:gd fmla="val 50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210300" y="3038475"/>
            <a:ext cx="257175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9010650" y="2909887"/>
            <a:ext cx="2571750" cy="2019300"/>
          </a:xfrm>
          <a:prstGeom prst="roundRect">
            <a:avLst>
              <a:gd fmla="val 56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224212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0" y="32242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0" y="33528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5450" y="322421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09600" y="8191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Essential Skills Beyond Syntax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Traits that distinguish high-impact developers from code typists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09600" y="53340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ENGINEERING CAPABILITIES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1049000" y="533400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05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14400" y="3595687"/>
            <a:ext cx="205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Managing branch strategies and asynchronous team collaboration with Git.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714750" y="3709987"/>
            <a:ext cx="205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Methodically diagnosing complex edge cases and failure modes.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515100" y="3724275"/>
            <a:ext cx="2057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Structuring software for long-term scalability and fault tolerance.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315450" y="3595687"/>
            <a:ext cx="205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Translating complex technical tradeoffs into clear business decisions.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209675" y="3214687"/>
            <a:ext cx="18752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Version Control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038600" y="3100387"/>
            <a:ext cx="18202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Systemic Debugging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867525" y="3343275"/>
            <a:ext cx="18127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Design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696450" y="3214687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Communication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609600" y="2786062"/>
            <a:ext cx="3505200" cy="2266950"/>
          </a:xfrm>
          <a:prstGeom prst="roundRect">
            <a:avLst>
              <a:gd fmla="val 50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343400" y="2786062"/>
            <a:ext cx="3505200" cy="2266950"/>
          </a:xfrm>
          <a:prstGeom prst="roundRect">
            <a:avLst>
              <a:gd fmla="val 50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8077200" y="2786062"/>
            <a:ext cx="3505200" cy="2266950"/>
          </a:xfrm>
          <a:prstGeom prst="roundRect">
            <a:avLst>
              <a:gd fmla="val 50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943225" y="3138487"/>
            <a:ext cx="819150" cy="238125"/>
          </a:xfrm>
          <a:prstGeom prst="roundRect">
            <a:avLst>
              <a:gd fmla="val 4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543675" y="3138487"/>
            <a:ext cx="952500" cy="238125"/>
          </a:xfrm>
          <a:prstGeom prst="roundRect">
            <a:avLst>
              <a:gd fmla="val 4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10344150" y="3138487"/>
            <a:ext cx="885825" cy="238125"/>
          </a:xfrm>
          <a:prstGeom prst="roundRect">
            <a:avLst>
              <a:gd fmla="val 4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09600" y="8191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Learning &amp; Entry Pathways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Three main routes to build technical competency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09600" y="533400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CAREER ENTRY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1049000" y="533400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05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62025" y="3567112"/>
            <a:ext cx="367545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 Degree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62025" y="3929062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Deep theoretical foundations in algorithms, data structures, and computer architecture.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695825" y="3567112"/>
            <a:ext cx="367545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Coding Bootcamps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4695825" y="3929062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Intensive, practical training focused on immediate web and software stack skills.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429625" y="3567112"/>
            <a:ext cx="367545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Self-Directed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429625" y="3929062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Flexible, portfolio-driven learning via open-source contribution and docs.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962025" y="315753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3038475" y="3176587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Academic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695825" y="315753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638925" y="3176587"/>
            <a:ext cx="857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Accelerated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429625" y="315753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10439400" y="3176587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Autodidact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>
            <a:off x="609600" y="2958405"/>
            <a:ext cx="52387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09600" y="3615630"/>
            <a:ext cx="52387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09600" y="4272855"/>
            <a:ext cx="5238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09600" y="2958405"/>
            <a:ext cx="2857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09600" y="3615630"/>
            <a:ext cx="2857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09600" y="4272855"/>
            <a:ext cx="28575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8002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09750"/>
            <a:ext cx="52387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609600" y="533400"/>
            <a:ext cx="1352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OUTLOOK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1049000" y="533400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05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09600" y="2280344"/>
            <a:ext cx="6875859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Engineering in the AI Era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28675" y="2958405"/>
            <a:ext cx="65883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Acceleration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28675" y="3225105"/>
            <a:ext cx="627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Shift from typing code to verifying logic and architecture.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28675" y="3615630"/>
            <a:ext cx="65883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Continuous Learning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828675" y="3882330"/>
            <a:ext cx="627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Adaptability is key as tooling and frameworks evolve rapidly.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28675" y="4272855"/>
            <a:ext cx="65883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Leadership Paths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28675" y="4539555"/>
            <a:ext cx="51149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Progression toward Staff Architect, Tech Lead, or Management.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666875" y="1033462"/>
            <a:ext cx="9179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https://images.stockcake.com/public/6/3/6/636d9d91-36cb-45ac-b953-3d1c2507c056_large/hacker-in-action-stockcake.jpg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666875" y="1233487"/>
            <a:ext cx="2119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666875" y="1804987"/>
            <a:ext cx="428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https://miro.medium.com/1*K6b31ib-xPZiH-0bkcgkDg.png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666875" y="2005012"/>
            <a:ext cx="19169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